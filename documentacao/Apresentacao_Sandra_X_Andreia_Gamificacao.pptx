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 type="wide"/>
  <p:notesSz cx="6858000" cy="9144000"/>
  <p:defaultTextStyle>
    <a:defPPr>
      <a:defRPr lang="pt-B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800000" y="900000"/>
            <a:ext cx="850000" cy="850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800000" y="4700000"/>
            <a:ext cx="900000" cy="900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00000" y="1320000"/>
            <a:ext cx="85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4200" dirty="0">
                <a:solidFill>
                  <a:srgbClr val="FFFFFF"/>
                </a:solidFill>
                <a:b/>
                <a:latin typeface="Aptos Display"/>
              </a:rPr>
              <a:t>Projeto Interdisciplinar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00000" y="2100000"/>
            <a:ext cx="85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2100" dirty="0">
                <a:solidFill>
                  <a:srgbClr val="EAF2F8"/>
                </a:solidFill>
                <a:latin typeface="Aptos"/>
              </a:rPr>
              <a:t>Sistema de Gamifica??o para Plataforma de Educa??o Continuada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00000" y="2780000"/>
            <a:ext cx="7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350" dirty="0">
                <a:solidFill>
                  <a:srgbClr val="B9C7D8"/>
                </a:solidFill>
                <a:latin typeface="Aptos"/>
              </a:rPr>
              <a:t>Engenharia de Software + Programa??o Orientada a Objetos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00000" y="5050000"/>
            <a:ext cx="76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50" dirty="0">
                <a:solidFill>
                  <a:srgbClr val="FFFFFF"/>
                </a:solidFill>
                <a:latin typeface="Aptos"/>
              </a:rPr>
              <a:t>Betina Volpi ? Icaro Dias ? Kayla Abreu ? Rodrigo Neiland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000000" y="600000"/>
            <a:ext cx="1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600" dirty="0">
                <a:solidFill>
                  <a:srgbClr val="EAF2F8"/>
                </a:solidFill>
                <a:b/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Agenda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02</a:t>
            </a:r>
          </a:p>
        </p:txBody>
      </p:sp>
      <p:sp>
        <p:nvSpPr>
          <p:cNvPr id="6" name="Shape 6"/>
          <p:cNvSpPr/>
          <p:nvPr/>
        </p:nvSpPr>
        <p:spPr>
          <a:xfrm>
            <a:off x="900000" y="1450000"/>
            <a:ext cx="93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900000" y="1450000"/>
            <a:ext cx="90000" cy="50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110000" y="1600000"/>
            <a:ext cx="89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01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10000" y="1950000"/>
            <a:ext cx="8950000" cy="-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Contexto do projeto e problema</a:t>
            </a:r>
          </a:p>
        </p:txBody>
      </p:sp>
      <p:sp>
        <p:nvSpPr>
          <p:cNvPr id="10" name="Shape 10"/>
          <p:cNvSpPr/>
          <p:nvPr/>
        </p:nvSpPr>
        <p:spPr>
          <a:xfrm>
            <a:off x="900000" y="2210000"/>
            <a:ext cx="93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900000" y="2210000"/>
            <a:ext cx="90000" cy="50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1110000" y="2360000"/>
            <a:ext cx="89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02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10000" y="2710000"/>
            <a:ext cx="8950000" cy="-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Product Backlog e Sprint Backlog</a:t>
            </a:r>
          </a:p>
        </p:txBody>
      </p:sp>
      <p:sp>
        <p:nvSpPr>
          <p:cNvPr id="14" name="Shape 14"/>
          <p:cNvSpPr/>
          <p:nvPr/>
        </p:nvSpPr>
        <p:spPr>
          <a:xfrm>
            <a:off x="900000" y="2970000"/>
            <a:ext cx="93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900000" y="2970000"/>
            <a:ext cx="90000" cy="50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1110000" y="3120000"/>
            <a:ext cx="89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03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10000" y="3470000"/>
            <a:ext cx="8950000" cy="-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Arquitetura, dom?nio, DTOs, controllers e servi?os</a:t>
            </a:r>
          </a:p>
        </p:txBody>
      </p:sp>
      <p:sp>
        <p:nvSpPr>
          <p:cNvPr id="18" name="Shape 18"/>
          <p:cNvSpPr/>
          <p:nvPr/>
        </p:nvSpPr>
        <p:spPr>
          <a:xfrm>
            <a:off x="900000" y="3730000"/>
            <a:ext cx="93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900000" y="3730000"/>
            <a:ext cx="90000" cy="500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110000" y="3880000"/>
            <a:ext cx="89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04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10000" y="4230000"/>
            <a:ext cx="8950000" cy="-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Swagger, testes de API, Docker e apresenta??o funcional</a:t>
            </a:r>
          </a:p>
        </p:txBody>
      </p:sp>
      <p:sp>
        <p:nvSpPr>
          <p:cNvPr id="22" name="Shape 22"/>
          <p:cNvSpPr/>
          <p:nvPr/>
        </p:nvSpPr>
        <p:spPr>
          <a:xfrm>
            <a:off x="900000" y="4490000"/>
            <a:ext cx="93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900000" y="4490000"/>
            <a:ext cx="90000" cy="5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1110000" y="4640000"/>
            <a:ext cx="89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05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110000" y="4990000"/>
            <a:ext cx="8950000" cy="-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B?nus, limita??es e pr?ximos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50000" y="800000"/>
            <a:ext cx="85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800" dirty="0">
                <a:solidFill>
                  <a:srgbClr val="FFFFFF"/>
                </a:solidFill>
                <a:b/>
                <a:latin typeface="Aptos Display"/>
              </a:rPr>
              <a:t>Projeto Interdisciplinar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950000" y="1850000"/>
            <a:ext cx="93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Gamifica??o para engajamento em educa??o continuada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Problema: aumentar perman?ncia de alunos em cursos EAD.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Solu??o: API REST em Java/Spring Boot para usu?rios, cursos, matr?culas e base de gamifica??o.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Valor: benef?cios progressivos, plano Premium, moedas e vouchers como evolu??o.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Product Backlog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8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850000" y="145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Gest?o de usu?rios e autentica??o</a:t>
            </a:r>
          </a:p>
        </p:txBody>
      </p:sp>
      <p:sp>
        <p:nvSpPr>
          <p:cNvPr id="9" name="Shape 9"/>
          <p:cNvSpPr/>
          <p:nvPr/>
        </p:nvSpPr>
        <p:spPr>
          <a:xfrm>
            <a:off x="60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050000" y="145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2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Cadastro de alunos, professores e cursos</a:t>
            </a:r>
          </a:p>
        </p:txBody>
      </p:sp>
      <p:sp>
        <p:nvSpPr>
          <p:cNvPr id="12" name="Shape 12"/>
          <p:cNvSpPr/>
          <p:nvPr/>
        </p:nvSpPr>
        <p:spPr>
          <a:xfrm>
            <a:off x="8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850000" y="267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Matr?cula de alunos em cursos</a:t>
            </a:r>
          </a:p>
        </p:txBody>
      </p:sp>
      <p:sp>
        <p:nvSpPr>
          <p:cNvPr id="15" name="Shape 15"/>
          <p:cNvSpPr/>
          <p:nvPr/>
        </p:nvSpPr>
        <p:spPr>
          <a:xfrm>
            <a:off x="60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050000" y="267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2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Progress?o por conclus?o de cursos</a:t>
            </a:r>
          </a:p>
        </p:txBody>
      </p:sp>
      <p:sp>
        <p:nvSpPr>
          <p:cNvPr id="18" name="Shape 18"/>
          <p:cNvSpPr/>
          <p:nvPr/>
        </p:nvSpPr>
        <p:spPr>
          <a:xfrm>
            <a:off x="8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850000" y="389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0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Plano Premium ap?s 12 cursos</a:t>
            </a:r>
          </a:p>
        </p:txBody>
      </p:sp>
      <p:sp>
        <p:nvSpPr>
          <p:cNvPr id="21" name="Shape 21"/>
          <p:cNvSpPr/>
          <p:nvPr/>
        </p:nvSpPr>
        <p:spPr>
          <a:xfrm>
            <a:off x="60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050000" y="389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2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Moedas, vouchers e recompensas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Sprint Backlog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0000" y="1040000"/>
            <a:ext cx="9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350" dirty="0">
                <a:solidFill>
                  <a:srgbClr val="5D667A"/>
                </a:solidFill>
                <a:latin typeface="Aptos"/>
              </a:rPr>
              <a:t>Fonte: Jira SXA Board</a:t>
            </a:r>
          </a:p>
        </p:txBody>
      </p:sp>
      <p:sp>
        <p:nvSpPr>
          <p:cNvPr id="7" name="Shape 7"/>
          <p:cNvSpPr/>
          <p:nvPr/>
        </p:nvSpPr>
        <p:spPr>
          <a:xfrm>
            <a:off x="1450000" y="2220000"/>
            <a:ext cx="8800000" cy="650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200000" y="1900000"/>
            <a:ext cx="620000" cy="620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3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1</a:t>
            </a:r>
          </a:p>
        </p:txBody>
      </p:sp>
      <p:sp>
        <p:nvSpPr>
          <p:cNvPr id="10" name="Shape 10"/>
          <p:cNvSpPr/>
          <p:nvPr/>
        </p:nvSpPr>
        <p:spPr>
          <a:xfrm>
            <a:off x="7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750000" y="2750000"/>
            <a:ext cx="90000" cy="170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9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Sprint 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60000" y="3250000"/>
            <a:ext cx="2150000" cy="11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estrutura Spring Boot, Maven, dom?nio, entidades JPA e reposit?rios.</a:t>
            </a:r>
          </a:p>
        </p:txBody>
      </p:sp>
      <p:sp>
        <p:nvSpPr>
          <p:cNvPr id="14" name="Shape 14"/>
          <p:cNvSpPr/>
          <p:nvPr/>
        </p:nvSpPr>
        <p:spPr>
          <a:xfrm>
            <a:off x="4600000" y="1900000"/>
            <a:ext cx="620000" cy="620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7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2</a:t>
            </a:r>
          </a:p>
        </p:txBody>
      </p:sp>
      <p:sp>
        <p:nvSpPr>
          <p:cNvPr id="16" name="Shape 16"/>
          <p:cNvSpPr/>
          <p:nvPr/>
        </p:nvSpPr>
        <p:spPr>
          <a:xfrm>
            <a:off x="41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150000" y="2750000"/>
            <a:ext cx="90000" cy="170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43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Sprint 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360000" y="3250000"/>
            <a:ext cx="2150000" cy="11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endpoints REST, DTOs, services, autentica??o e Swagger.</a:t>
            </a:r>
          </a:p>
        </p:txBody>
      </p:sp>
      <p:sp>
        <p:nvSpPr>
          <p:cNvPr id="20" name="Shape 20"/>
          <p:cNvSpPr/>
          <p:nvPr/>
        </p:nvSpPr>
        <p:spPr>
          <a:xfrm>
            <a:off x="8000000" y="1900000"/>
            <a:ext cx="620000" cy="620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1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3</a:t>
            </a:r>
          </a:p>
        </p:txBody>
      </p:sp>
      <p:sp>
        <p:nvSpPr>
          <p:cNvPr id="22" name="Shape 22"/>
          <p:cNvSpPr/>
          <p:nvPr/>
        </p:nvSpPr>
        <p:spPr>
          <a:xfrm>
            <a:off x="75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7550000" y="2750000"/>
            <a:ext cx="90000" cy="170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77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Sprint 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760000" y="3250000"/>
            <a:ext cx="2150000" cy="11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Docker, PostgreSQL, front-end, ajustes finais e documenta??o.</a:t>
            </a:r>
          </a:p>
        </p:txBody>
      </p:sp>
      <p:sp>
        <p:nvSpPr>
          <p:cNvPr id="26" name="Shape 26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Inserir print/export do Jira: betinavolpi2006.atlassian.net/jira/software/projects/SXA/boards/34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Arquitetura e Clean Architecture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06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350000"/>
            <a:ext cx="6800000" cy="4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00000" y="1720000"/>
            <a:ext cx="61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Separa??o de responsabilidades e baixo acoplamento.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Camadas: config, controller, domain, dto, repository e service.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Evid?ncia: src/main/java/ananditos/sandraxandreia/.</a:t>
            </a:r>
          </a:p>
        </p:txBody>
      </p:sp>
      <p:sp>
        <p:nvSpPr>
          <p:cNvPr id="8" name="Shape 8"/>
          <p:cNvSpPr/>
          <p:nvPr/>
        </p:nvSpPr>
        <p:spPr>
          <a:xfrm>
            <a:off x="8100000" y="1350000"/>
            <a:ext cx="3100000" cy="40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60000" y="1780000"/>
            <a:ext cx="238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850" dirty="0">
                <a:solidFill>
                  <a:srgbClr val="FFFFFF"/>
                </a:solidFill>
                <a:b/>
                <a:latin typeface="Aptos"/>
              </a:rPr>
              <a:t>Camadas bem definidas facilitam teste, manuten??o e expans?o.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Arquitetura - Dom?nio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07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00000" y="1250000"/>
            <a:ext cx="6000000" cy="1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450" dirty="0">
                <a:solidFill>
                  <a:srgbClr val="14213D"/>
                </a:solidFill>
                <a:latin typeface="Aptos"/>
              </a:rPr>
              <a:t>Classes principais: Usuario, Aluno, Professor, Curso, Matricula, Assinatura.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450" dirty="0">
                <a:solidFill>
                  <a:srgbClr val="14213D"/>
                </a:solidFill>
                <a:latin typeface="Aptos"/>
              </a:rPr>
              <a:t>Usuario ? classe base com heran?a JOINED para Aluno e Professor.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450" dirty="0">
                <a:solidFill>
                  <a:srgbClr val="14213D"/>
                </a:solidFill>
                <a:latin typeface="Aptos"/>
              </a:rPr>
              <a:t>Matricula liga Aluno e Curso; Professor possui Cursos.</a:t>
            </a:r>
          </a:p>
        </p:txBody>
      </p:sp>
      <p:sp>
        <p:nvSpPr>
          <p:cNvPr id="7" name="Shape 7"/>
          <p:cNvSpPr/>
          <p:nvPr/>
        </p:nvSpPr>
        <p:spPr>
          <a:xfrm>
            <a:off x="5200000" y="3450000"/>
            <a:ext cx="19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5200000" y="3450000"/>
            <a:ext cx="90000" cy="57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5410000" y="3600000"/>
            <a:ext cx="15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0" y="4700000"/>
            <a:ext cx="19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3000000" y="4700000"/>
            <a:ext cx="90000" cy="57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3210000" y="4850000"/>
            <a:ext cx="15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Aluno</a:t>
            </a:r>
          </a:p>
        </p:txBody>
      </p:sp>
      <p:sp>
        <p:nvSpPr>
          <p:cNvPr id="13" name="Shape 13"/>
          <p:cNvSpPr/>
          <p:nvPr/>
        </p:nvSpPr>
        <p:spPr>
          <a:xfrm>
            <a:off x="7250000" y="4700000"/>
            <a:ext cx="19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7250000" y="4700000"/>
            <a:ext cx="90000" cy="57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460000" y="4850000"/>
            <a:ext cx="15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Professor</a:t>
            </a:r>
          </a:p>
        </p:txBody>
      </p:sp>
      <p:sp>
        <p:nvSpPr>
          <p:cNvPr id="16" name="Shape 16"/>
          <p:cNvSpPr/>
          <p:nvPr/>
        </p:nvSpPr>
        <p:spPr>
          <a:xfrm>
            <a:off x="3000000" y="5850000"/>
            <a:ext cx="19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3000000" y="5850000"/>
            <a:ext cx="90000" cy="57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3210000" y="6000000"/>
            <a:ext cx="15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Matricula</a:t>
            </a:r>
          </a:p>
        </p:txBody>
      </p:sp>
      <p:sp>
        <p:nvSpPr>
          <p:cNvPr id="19" name="Shape 19"/>
          <p:cNvSpPr/>
          <p:nvPr/>
        </p:nvSpPr>
        <p:spPr>
          <a:xfrm>
            <a:off x="7250000" y="5850000"/>
            <a:ext cx="1900000" cy="5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50000" y="5850000"/>
            <a:ext cx="90000" cy="570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460000" y="6000000"/>
            <a:ext cx="15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Curso</a:t>
            </a:r>
          </a:p>
        </p:txBody>
      </p:sp>
      <p:sp>
        <p:nvSpPr>
          <p:cNvPr id="22" name="Shape 22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Evid?ncias: domain/usuario, domain/aluno, domain/professor, domain/curso, domain/matricula.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DDD - Value Objects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08</a:t>
            </a:r>
          </a:p>
        </p:txBody>
      </p:sp>
      <p:sp>
        <p:nvSpPr>
          <p:cNvPr id="6" name="Shape 6"/>
          <p:cNvSpPr/>
          <p:nvPr/>
        </p:nvSpPr>
        <p:spPr>
          <a:xfrm>
            <a:off x="8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850000" y="145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UsuarioEmail</a:t>
            </a:r>
          </a:p>
        </p:txBody>
      </p:sp>
      <p:sp>
        <p:nvSpPr>
          <p:cNvPr id="9" name="Shape 9"/>
          <p:cNvSpPr/>
          <p:nvPr/>
        </p:nvSpPr>
        <p:spPr>
          <a:xfrm>
            <a:off x="60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050000" y="145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2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UsuarioCpf</a:t>
            </a:r>
          </a:p>
        </p:txBody>
      </p:sp>
      <p:sp>
        <p:nvSpPr>
          <p:cNvPr id="12" name="Shape 12"/>
          <p:cNvSpPr/>
          <p:nvPr/>
        </p:nvSpPr>
        <p:spPr>
          <a:xfrm>
            <a:off x="8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850000" y="267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UsuarioDataNascimento</a:t>
            </a:r>
          </a:p>
        </p:txBody>
      </p:sp>
      <p:sp>
        <p:nvSpPr>
          <p:cNvPr id="15" name="Shape 15"/>
          <p:cNvSpPr/>
          <p:nvPr/>
        </p:nvSpPr>
        <p:spPr>
          <a:xfrm>
            <a:off x="60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050000" y="267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2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UsuarioSenhaCriptografada</a:t>
            </a:r>
          </a:p>
        </p:txBody>
      </p:sp>
      <p:sp>
        <p:nvSpPr>
          <p:cNvPr id="18" name="Shape 18"/>
          <p:cNvSpPr/>
          <p:nvPr/>
        </p:nvSpPr>
        <p:spPr>
          <a:xfrm>
            <a:off x="8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850000" y="389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0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AlunoRA</a:t>
            </a:r>
          </a:p>
        </p:txBody>
      </p:sp>
      <p:sp>
        <p:nvSpPr>
          <p:cNvPr id="21" name="Shape 21"/>
          <p:cNvSpPr/>
          <p:nvPr/>
        </p:nvSpPr>
        <p:spPr>
          <a:xfrm>
            <a:off x="60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050000" y="389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2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ProfessorAreaFormacao</a:t>
            </a:r>
          </a:p>
        </p:txBody>
      </p:sp>
      <p:sp>
        <p:nvSpPr>
          <p:cNvPr id="24" name="Shape 24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VOs encapsulam valida??o, significado de neg?cio e reduzem exposi??o de tipos primitivos.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Arquitetura - Repository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09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350000"/>
            <a:ext cx="6800000" cy="4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00000" y="1720000"/>
            <a:ext cx="61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Repositories abstraem persist?ncia e estendem JpaRepository.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Classes: AlunoRepository, CursoRepository, ProfessorRepository, UsuarioRepository, MatriculaRepository, AssinaturaRepository.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Diferenciais: existsByEmailValor, existsByCpfValor e findByEmailValor.</a:t>
            </a:r>
          </a:p>
        </p:txBody>
      </p:sp>
      <p:sp>
        <p:nvSpPr>
          <p:cNvPr id="8" name="Shape 8"/>
          <p:cNvSpPr/>
          <p:nvPr/>
        </p:nvSpPr>
        <p:spPr>
          <a:xfrm>
            <a:off x="8100000" y="1350000"/>
            <a:ext cx="3100000" cy="40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60000" y="1780000"/>
            <a:ext cx="238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850" dirty="0">
                <a:solidFill>
                  <a:srgbClr val="FFFFFF"/>
                </a:solidFill>
                <a:b/>
                <a:latin typeface="Aptos"/>
              </a:rPr>
              <a:t>A camada repository evita SQL manual para CRUD comum e concentra consultas espec?ficas.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JPA e Renderiza??o das Tabelas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10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400000"/>
            <a:ext cx="106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20000" y="1780000"/>
            <a:ext cx="9800000" cy="2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JPA/Hibernate mapeia objetos Java para tabelas relacionais.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Anota??es: @Entity, @Table, @Id, @GeneratedValue, @OneToMany, @ManyToOne e @Inheritance.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Bancos: H2 para desenvolvimento e PostgreSQL para execu??o com Docker.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Evid?ncias: pom.xml, application.properties, application-h2.properties, application-postgres.properties.</a:t>
            </a:r>
          </a:p>
        </p:txBody>
      </p:sp>
      <p:sp>
        <p:nvSpPr>
          <p:cNvPr id="8" name="Shape 8"/>
          <p:cNvSpPr/>
          <p:nvPr/>
        </p:nvSpPr>
        <p:spPr>
          <a:xfrm>
            <a:off x="760000" y="5350000"/>
            <a:ext cx="10680000" cy="56000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100000" y="5500000"/>
            <a:ext cx="98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250" dirty="0">
                <a:solidFill>
                  <a:srgbClr val="2A9D8F"/>
                </a:solidFill>
                <a:b/>
                <a:latin typeface="Aptos"/>
              </a:rPr>
              <a:t>Evid?ncias t?cnicas conectam o c?digo ? arquitetura apresentada.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Arquitetura - Service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11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350000"/>
            <a:ext cx="6800000" cy="4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00000" y="1720000"/>
            <a:ext cx="61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Services orquestram regras de aplica??o.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Classes: AlunoService, CursoService, ProfessorService, UsuarioService, MatriculaService.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Responsabilidades: criar, listar, buscar, atualizar, deletar e validar dados.</a:t>
            </a:r>
          </a:p>
        </p:txBody>
      </p:sp>
      <p:sp>
        <p:nvSpPr>
          <p:cNvPr id="8" name="Shape 8"/>
          <p:cNvSpPr/>
          <p:nvPr/>
        </p:nvSpPr>
        <p:spPr>
          <a:xfrm>
            <a:off x="8100000" y="1350000"/>
            <a:ext cx="3100000" cy="40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60000" y="1780000"/>
            <a:ext cx="238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850" dirty="0">
                <a:solidFill>
                  <a:srgbClr val="FFFFFF"/>
                </a:solidFill>
                <a:b/>
                <a:latin typeface="Aptos"/>
              </a:rPr>
              <a:t>Services traduzem inten??es da API em opera??es de dom?nio e persist?ncia.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DTOs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12</a:t>
            </a:r>
          </a:p>
        </p:txBody>
      </p:sp>
      <p:sp>
        <p:nvSpPr>
          <p:cNvPr id="6" name="Shape 6"/>
          <p:cNvSpPr/>
          <p:nvPr/>
        </p:nvSpPr>
        <p:spPr>
          <a:xfrm>
            <a:off x="8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850000" y="145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AlunoRequestDTO / AlunoResponseDTO</a:t>
            </a:r>
          </a:p>
        </p:txBody>
      </p:sp>
      <p:sp>
        <p:nvSpPr>
          <p:cNvPr id="9" name="Shape 9"/>
          <p:cNvSpPr/>
          <p:nvPr/>
        </p:nvSpPr>
        <p:spPr>
          <a:xfrm>
            <a:off x="6050000" y="145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050000" y="145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260000" y="160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CursoRequestDTO / CursoResponseDTO</a:t>
            </a:r>
          </a:p>
        </p:txBody>
      </p:sp>
      <p:sp>
        <p:nvSpPr>
          <p:cNvPr id="12" name="Shape 12"/>
          <p:cNvSpPr/>
          <p:nvPr/>
        </p:nvSpPr>
        <p:spPr>
          <a:xfrm>
            <a:off x="8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850000" y="267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ProfessorRequestDTO / ProfessorResponseDTO</a:t>
            </a:r>
          </a:p>
        </p:txBody>
      </p:sp>
      <p:sp>
        <p:nvSpPr>
          <p:cNvPr id="15" name="Shape 15"/>
          <p:cNvSpPr/>
          <p:nvPr/>
        </p:nvSpPr>
        <p:spPr>
          <a:xfrm>
            <a:off x="6050000" y="267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050000" y="2670000"/>
            <a:ext cx="90000" cy="85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260000" y="282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MatriculaRequestDTO / MatriculaResponseDTO</a:t>
            </a:r>
          </a:p>
        </p:txBody>
      </p:sp>
      <p:sp>
        <p:nvSpPr>
          <p:cNvPr id="18" name="Shape 18"/>
          <p:cNvSpPr/>
          <p:nvPr/>
        </p:nvSpPr>
        <p:spPr>
          <a:xfrm>
            <a:off x="8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850000" y="3890000"/>
            <a:ext cx="90000" cy="85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0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UsuarioRequestDTO / UsuarioResponseDTO</a:t>
            </a:r>
          </a:p>
        </p:txBody>
      </p:sp>
      <p:sp>
        <p:nvSpPr>
          <p:cNvPr id="21" name="Shape 21"/>
          <p:cNvSpPr/>
          <p:nvPr/>
        </p:nvSpPr>
        <p:spPr>
          <a:xfrm>
            <a:off x="6050000" y="3890000"/>
            <a:ext cx="465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050000" y="3890000"/>
            <a:ext cx="90000" cy="85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260000" y="404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LoginRequestDTO / LoginResponseDTO</a:t>
            </a:r>
          </a:p>
        </p:txBody>
      </p:sp>
      <p:sp>
        <p:nvSpPr>
          <p:cNvPr id="24" name="Shape 24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DTOs evitam expor entidades diretamente e controlam o contrato da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Controllers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13</a:t>
            </a:r>
          </a:p>
        </p:txBody>
      </p:sp>
      <p:sp>
        <p:nvSpPr>
          <p:cNvPr id="6" name="Shape 6"/>
          <p:cNvSpPr/>
          <p:nvPr/>
        </p:nvSpPr>
        <p:spPr>
          <a:xfrm>
            <a:off x="850000" y="138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850000" y="1380000"/>
            <a:ext cx="90000" cy="76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000" y="153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/aluno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60000" y="188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GET, POST, PUT, DELETE</a:t>
            </a:r>
          </a:p>
        </p:txBody>
      </p:sp>
      <p:sp>
        <p:nvSpPr>
          <p:cNvPr id="10" name="Shape 10"/>
          <p:cNvSpPr/>
          <p:nvPr/>
        </p:nvSpPr>
        <p:spPr>
          <a:xfrm>
            <a:off x="6050000" y="138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6050000" y="1380000"/>
            <a:ext cx="90000" cy="76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260000" y="153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/curso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260000" y="188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GET, POST, PUT, DELETE, PUT /{id}/status</a:t>
            </a:r>
          </a:p>
        </p:txBody>
      </p:sp>
      <p:sp>
        <p:nvSpPr>
          <p:cNvPr id="14" name="Shape 14"/>
          <p:cNvSpPr/>
          <p:nvPr/>
        </p:nvSpPr>
        <p:spPr>
          <a:xfrm>
            <a:off x="850000" y="250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850000" y="2500000"/>
            <a:ext cx="90000" cy="76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1060000" y="265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/professor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60000" y="300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GET, POST, PUT, DELETE</a:t>
            </a:r>
          </a:p>
        </p:txBody>
      </p:sp>
      <p:sp>
        <p:nvSpPr>
          <p:cNvPr id="18" name="Shape 18"/>
          <p:cNvSpPr/>
          <p:nvPr/>
        </p:nvSpPr>
        <p:spPr>
          <a:xfrm>
            <a:off x="6050000" y="250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6050000" y="2500000"/>
            <a:ext cx="90000" cy="76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6260000" y="265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/matricula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260000" y="300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GET, POST, PUT, DELETE</a:t>
            </a:r>
          </a:p>
        </p:txBody>
      </p:sp>
      <p:sp>
        <p:nvSpPr>
          <p:cNvPr id="22" name="Shape 22"/>
          <p:cNvSpPr/>
          <p:nvPr/>
        </p:nvSpPr>
        <p:spPr>
          <a:xfrm>
            <a:off x="850000" y="362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50000" y="3620000"/>
            <a:ext cx="90000" cy="76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1060000" y="377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/usuario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60000" y="412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GET, POST, PUT, DELETE</a:t>
            </a:r>
          </a:p>
        </p:txBody>
      </p:sp>
      <p:sp>
        <p:nvSpPr>
          <p:cNvPr id="26" name="Shape 26"/>
          <p:cNvSpPr/>
          <p:nvPr/>
        </p:nvSpPr>
        <p:spPr>
          <a:xfrm>
            <a:off x="6050000" y="3620000"/>
            <a:ext cx="46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6050000" y="3620000"/>
            <a:ext cx="90000" cy="76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6260000" y="3770000"/>
            <a:ext cx="4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/login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260000" y="4120000"/>
            <a:ext cx="430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POST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Swagger e Testes de API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14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400000"/>
            <a:ext cx="106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20000" y="1780000"/>
            <a:ext cx="9800000" cy="2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Swagger documenta e permite testar a API pelo navegador.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Depend?ncia: springdoc-openapi-starter-webmvc-ui no pom.xml.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Configura??o: springdoc.swagger-ui.path=/swagger-ui.html.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Controllers usam @Tag e @Operation.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520" dirty="0">
                <a:solidFill>
                  <a:srgbClr val="14213D"/>
                </a:solidFill>
                <a:latin typeface="Aptos"/>
              </a:rPr>
              <a:t>Testes podem ser feitos via Swagger, Postman ou Insomnia.</a:t>
            </a:r>
          </a:p>
        </p:txBody>
      </p:sp>
      <p:sp>
        <p:nvSpPr>
          <p:cNvPr id="8" name="Shape 8"/>
          <p:cNvSpPr/>
          <p:nvPr/>
        </p:nvSpPr>
        <p:spPr>
          <a:xfrm>
            <a:off x="760000" y="5350000"/>
            <a:ext cx="10680000" cy="56000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100000" y="5500000"/>
            <a:ext cx="98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250" dirty="0">
                <a:solidFill>
                  <a:srgbClr val="2A9D8F"/>
                </a:solidFill>
                <a:b/>
                <a:latin typeface="Aptos"/>
              </a:rPr>
              <a:t>Evid?ncias t?cnicas conectam o c?digo ? arquitetura apresentada.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Deploy - Docker 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15</a:t>
            </a:r>
          </a:p>
        </p:txBody>
      </p:sp>
      <p:sp>
        <p:nvSpPr>
          <p:cNvPr id="6" name="Shape 6"/>
          <p:cNvSpPr/>
          <p:nvPr/>
        </p:nvSpPr>
        <p:spPr>
          <a:xfrm>
            <a:off x="820000" y="1300000"/>
            <a:ext cx="2700000" cy="37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200000" y="245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3000" dirty="0">
                <a:solidFill>
                  <a:srgbClr val="FFFFFF"/>
                </a:solidFill>
                <a:b/>
                <a:latin typeface="Aptos"/>
              </a:rPr>
              <a:t>Docker</a:t>
            </a:r>
          </a:p>
        </p:txBody>
      </p:sp>
      <p:sp>
        <p:nvSpPr>
          <p:cNvPr id="8" name="Bullets 8"/>
          <p:cNvSpPr txBox="1"/>
          <p:nvPr/>
        </p:nvSpPr>
        <p:spPr>
          <a:xfrm>
            <a:off x="4200000" y="1550000"/>
            <a:ext cx="68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Dockerfile com build multi-stage.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Build: maven:3.9.12-eclipse-temurin-25.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Runtime: eclipse-temurin:25-jre.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Porta exposta: 8080.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Execu??o: java -jar /app/app.jar.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Deploy - Docker Hub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16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0000" y="14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Docker Hub versiona e distribui imagens Docker.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Processo: docker login, docker tag e docker push.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N?o h? evid?ncia local de push para Docker Hub no reposit?rio.</a:t>
            </a:r>
          </a:p>
        </p:txBody>
      </p:sp>
      <p:sp>
        <p:nvSpPr>
          <p:cNvPr id="7" name="Shape 7"/>
          <p:cNvSpPr/>
          <p:nvPr/>
        </p:nvSpPr>
        <p:spPr>
          <a:xfrm>
            <a:off x="8000000" y="1500000"/>
            <a:ext cx="3000000" cy="2700000"/>
          </a:xfrm>
          <a:prstGeom prst="roundRect">
            <a:avLst/>
          </a:prstGeom>
          <a:solidFill>
            <a:srgbClr val="FFF4E8"/>
          </a:solidFill>
          <a:ln w="180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350000" y="224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2100" dirty="0">
                <a:solidFill>
                  <a:srgbClr val="8A4B19"/>
                </a:solidFill>
                <a:b/>
                <a:latin typeface="Aptos"/>
              </a:rPr>
              <a:t>Evid?ncia visual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0000" y="2900000"/>
            <a:ext cx="2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300" dirty="0">
                <a:solidFill>
                  <a:srgbClr val="8A4B19"/>
                </a:solidFill>
                <a:latin typeface="Aptos"/>
              </a:rPr>
              <a:t>reservar espa?o para print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Inserir print da imagem publicada ou do docker push bem-sucedido.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Deploy - Docker Compose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17</a:t>
            </a:r>
          </a:p>
        </p:txBody>
      </p:sp>
      <p:sp>
        <p:nvSpPr>
          <p:cNvPr id="6" name="Shape 6"/>
          <p:cNvSpPr/>
          <p:nvPr/>
        </p:nvSpPr>
        <p:spPr>
          <a:xfrm>
            <a:off x="820000" y="1300000"/>
            <a:ext cx="2700000" cy="37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200000" y="245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3000" dirty="0">
                <a:solidFill>
                  <a:srgbClr val="FFFFFF"/>
                </a:solidFill>
                <a:b/>
                <a:latin typeface="Aptos"/>
              </a:rPr>
              <a:t>Docker</a:t>
            </a:r>
          </a:p>
        </p:txBody>
      </p:sp>
      <p:sp>
        <p:nvSpPr>
          <p:cNvPr id="8" name="Bullets 8"/>
          <p:cNvSpPr txBox="1"/>
          <p:nvPr/>
        </p:nvSpPr>
        <p:spPr>
          <a:xfrm>
            <a:off x="4200000" y="1550000"/>
            <a:ext cx="68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docker-compose.yml orquestra m?ltiplos servi?os.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Servi?os: postgres, pgadmin, app e frontend.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Rede: app_net.</a:t>
            </a:r>
          </a:p>
          <a:p>
            <a:pPr marL="285750" indent="-171450">
              <a:buChar char="?"/>
              <a:buClr>
                <a:srgbClr val="457B9D"/>
              </a:buClr>
            </a:pPr>
            <a:r>
              <a:rPr lang="pt-BR" sz="1650" dirty="0">
                <a:solidFill>
                  <a:srgbClr val="14213D"/>
                </a:solidFill>
                <a:latin typeface="Aptos"/>
              </a:rPr>
              <a:t>Portas: API 8080, frontend 5173 e pgAdmin 5050.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Docker Desktop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18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0000" y="14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Docker Desktop valida containers, imagens, volumes e logs.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Containers esperados: sandra-x-andreia, usuario-postgres, usuario-pgadmin e sandra-x-andreia-frontend.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Inserir print do Docker Desktop com containers rodando.</a:t>
            </a:r>
          </a:p>
        </p:txBody>
      </p:sp>
      <p:sp>
        <p:nvSpPr>
          <p:cNvPr id="7" name="Shape 7"/>
          <p:cNvSpPr/>
          <p:nvPr/>
        </p:nvSpPr>
        <p:spPr>
          <a:xfrm>
            <a:off x="8000000" y="1500000"/>
            <a:ext cx="3000000" cy="2700000"/>
          </a:xfrm>
          <a:prstGeom prst="roundRect">
            <a:avLst/>
          </a:prstGeom>
          <a:solidFill>
            <a:srgbClr val="FFF4E8"/>
          </a:solidFill>
          <a:ln w="180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350000" y="224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2100" dirty="0">
                <a:solidFill>
                  <a:srgbClr val="8A4B19"/>
                </a:solidFill>
                <a:b/>
                <a:latin typeface="Aptos"/>
              </a:rPr>
              <a:t>Evid?ncia visual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0000" y="2900000"/>
            <a:ext cx="2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300" dirty="0">
                <a:solidFill>
                  <a:srgbClr val="8A4B19"/>
                </a:solidFill>
                <a:latin typeface="Aptos"/>
              </a:rPr>
              <a:t>reservar espa?o para print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Inserir print do Docker Desktop com containers rodando.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Apresenta??o Funcional 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19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0000" y="14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pgAdmin confirma as tabelas geradas pelo JPA/Hibernate no PostgreSQL.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Entidades esperadas: usuario, aluno, professor, curso, matricula e assinatura.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Banco: usuario_db.</a:t>
            </a:r>
          </a:p>
        </p:txBody>
      </p:sp>
      <p:sp>
        <p:nvSpPr>
          <p:cNvPr id="7" name="Shape 7"/>
          <p:cNvSpPr/>
          <p:nvPr/>
        </p:nvSpPr>
        <p:spPr>
          <a:xfrm>
            <a:off x="8000000" y="1500000"/>
            <a:ext cx="3000000" cy="2700000"/>
          </a:xfrm>
          <a:prstGeom prst="roundRect">
            <a:avLst/>
          </a:prstGeom>
          <a:solidFill>
            <a:srgbClr val="FFF4E8"/>
          </a:solidFill>
          <a:ln w="180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350000" y="224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2100" dirty="0">
                <a:solidFill>
                  <a:srgbClr val="8A4B19"/>
                </a:solidFill>
                <a:b/>
                <a:latin typeface="Aptos"/>
              </a:rPr>
              <a:t>Evid?ncia visual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0000" y="2900000"/>
            <a:ext cx="2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300" dirty="0">
                <a:solidFill>
                  <a:srgbClr val="8A4B19"/>
                </a:solidFill>
                <a:latin typeface="Aptos"/>
              </a:rPr>
              <a:t>reservar espa?o para print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Inserir print do pgAdmin mostrando as tabelas renderizadas.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Apresenta??o Funcional II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20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0000" y="1040000"/>
            <a:ext cx="9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350" dirty="0">
                <a:solidFill>
                  <a:srgbClr val="5D667A"/>
                </a:solidFill>
                <a:latin typeface="Aptos"/>
              </a:rPr>
              <a:t>Reposit?rio GitHub: https://github.com/BPNLeiland/Sandra-X-Andreia</a:t>
            </a:r>
          </a:p>
        </p:txBody>
      </p:sp>
      <p:sp>
        <p:nvSpPr>
          <p:cNvPr id="7" name="Shape 7"/>
          <p:cNvSpPr/>
          <p:nvPr/>
        </p:nvSpPr>
        <p:spPr>
          <a:xfrm>
            <a:off x="1450000" y="2220000"/>
            <a:ext cx="8800000" cy="65000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200000" y="1900000"/>
            <a:ext cx="620000" cy="620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3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1</a:t>
            </a:r>
          </a:p>
        </p:txBody>
      </p:sp>
      <p:sp>
        <p:nvSpPr>
          <p:cNvPr id="10" name="Shape 10"/>
          <p:cNvSpPr/>
          <p:nvPr/>
        </p:nvSpPr>
        <p:spPr>
          <a:xfrm>
            <a:off x="7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750000" y="2750000"/>
            <a:ext cx="90000" cy="170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9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Funcionalidades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60000" y="3250000"/>
            <a:ext cx="2150000" cy="11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5D667A"/>
                </a:solidFill>
                <a:latin typeface="Aptos"/>
              </a:rPr>
              <a:t>autentica??o, CRUD de usu?rios, alunos, professores, cursos e matr?culas.</a:t>
            </a:r>
          </a:p>
        </p:txBody>
      </p:sp>
      <p:sp>
        <p:nvSpPr>
          <p:cNvPr id="14" name="Shape 14"/>
          <p:cNvSpPr/>
          <p:nvPr/>
        </p:nvSpPr>
        <p:spPr>
          <a:xfrm>
            <a:off x="4600000" y="1900000"/>
            <a:ext cx="620000" cy="620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7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2</a:t>
            </a:r>
          </a:p>
        </p:txBody>
      </p:sp>
      <p:sp>
        <p:nvSpPr>
          <p:cNvPr id="16" name="Shape 16"/>
          <p:cNvSpPr/>
          <p:nvPr/>
        </p:nvSpPr>
        <p:spPr>
          <a:xfrm>
            <a:off x="41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150000" y="2750000"/>
            <a:ext cx="90000" cy="17000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43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Versionamento pode ser apresentado por commits, branches ou cards do Jira.</a:t>
            </a:r>
          </a:p>
        </p:txBody>
      </p:sp>
      <p:sp>
        <p:nvSpPr>
          <p:cNvPr id="19" name="Shape 19"/>
          <p:cNvSpPr/>
          <p:nvPr/>
        </p:nvSpPr>
        <p:spPr>
          <a:xfrm>
            <a:off x="8000000" y="1900000"/>
            <a:ext cx="620000" cy="620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185000" y="2040000"/>
            <a:ext cx="26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450" dirty="0">
                <a:solidFill>
                  <a:srgbClr val="FFFFFF"/>
                </a:solidFill>
                <a:b/>
                <a:latin typeface="Aptos"/>
              </a:rPr>
              <a:t>3</a:t>
            </a:r>
          </a:p>
        </p:txBody>
      </p:sp>
      <p:sp>
        <p:nvSpPr>
          <p:cNvPr id="21" name="Shape 21"/>
          <p:cNvSpPr/>
          <p:nvPr/>
        </p:nvSpPr>
        <p:spPr>
          <a:xfrm>
            <a:off x="7550000" y="2750000"/>
            <a:ext cx="25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550000" y="2750000"/>
            <a:ext cx="90000" cy="170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760000" y="290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420" dirty="0">
                <a:solidFill>
                  <a:srgbClr val="14213D"/>
                </a:solidFill>
                <a:b/>
                <a:latin typeface="Aptos"/>
              </a:rPr>
              <a:t>Inserir print do Jira SXA ou hist?rico de commits por sprint.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B?nus - Vis?o Full-Stack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21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1350000"/>
            <a:ext cx="6800000" cy="4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7" name="Bullets 7"/>
          <p:cNvSpPr txBox="1"/>
          <p:nvPr/>
        </p:nvSpPr>
        <p:spPr>
          <a:xfrm>
            <a:off x="1100000" y="1720000"/>
            <a:ext cx="6100000" cy="3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Front-end presente em frontend/.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Telas para aluno, professor e curador.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600" dirty="0">
                <a:solidFill>
                  <a:srgbClr val="14213D"/>
                </a:solidFill>
                <a:latin typeface="Aptos"/>
              </a:rPr>
              <a:t>frontend/auth.js consome http://localhost:8080, incluindo /aluno e /login.</a:t>
            </a:r>
          </a:p>
        </p:txBody>
      </p:sp>
      <p:sp>
        <p:nvSpPr>
          <p:cNvPr id="8" name="Shape 8"/>
          <p:cNvSpPr/>
          <p:nvPr/>
        </p:nvSpPr>
        <p:spPr>
          <a:xfrm>
            <a:off x="8100000" y="1350000"/>
            <a:ext cx="3100000" cy="40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60000" y="1780000"/>
            <a:ext cx="2380000" cy="2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850" dirty="0">
                <a:solidFill>
                  <a:srgbClr val="FFFFFF"/>
                </a:solidFill>
                <a:b/>
                <a:latin typeface="Aptos"/>
              </a:rPr>
              <a:t>Docker Compose executa o front-end em container pr?prio.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B?nus - Integra??o LLM Gemini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22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0000" y="14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N?o h? evid?ncia de integra??o Gemini/LLM no c?digo atual.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Evolu??o proposta: recomenda??es de cursos, feedback de desempenho ou sugest?es de trilha.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Estrat?gia: GeminiService consumido por endpoint como /recomendacoes.</a:t>
            </a:r>
          </a:p>
        </p:txBody>
      </p:sp>
      <p:sp>
        <p:nvSpPr>
          <p:cNvPr id="7" name="Shape 7"/>
          <p:cNvSpPr/>
          <p:nvPr/>
        </p:nvSpPr>
        <p:spPr>
          <a:xfrm>
            <a:off x="8000000" y="1500000"/>
            <a:ext cx="3000000" cy="2700000"/>
          </a:xfrm>
          <a:prstGeom prst="roundRect">
            <a:avLst/>
          </a:prstGeom>
          <a:solidFill>
            <a:srgbClr val="FFF4E8"/>
          </a:solidFill>
          <a:ln w="180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350000" y="224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2100" dirty="0">
                <a:solidFill>
                  <a:srgbClr val="8A4B19"/>
                </a:solidFill>
                <a:b/>
                <a:latin typeface="Aptos"/>
              </a:rPr>
              <a:t>Evid?ncia visual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0000" y="2900000"/>
            <a:ext cx="2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300" dirty="0">
                <a:solidFill>
                  <a:srgbClr val="8A4B19"/>
                </a:solidFill>
                <a:latin typeface="Aptos"/>
              </a:rPr>
              <a:t>reservar espa?o para print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Estrat?gia: GeminiService consumido por endpoint como /recomendacoes.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1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20000" y="4500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000" dirty="0">
                <a:solidFill>
                  <a:srgbClr val="14213D"/>
                </a:solidFill>
                <a:b/>
                <a:latin typeface="Aptos Display"/>
              </a:rPr>
              <a:t>B?nus - Testes com Usu?rios Finais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1000000" y="47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pt-BR" sz="1500" dirty="0">
                <a:solidFill>
                  <a:srgbClr val="5D667A"/>
                </a:solidFill>
                <a:b/>
                <a:latin typeface="Aptos"/>
              </a:rPr>
              <a:t>23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0000" y="1450000"/>
            <a:ext cx="6600000" cy="2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Cen?rio: usu?rio cadastra aluno, faz login, consulta cat?logo, matricula-se e acompanha progresso.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Feedback esperado: validar clareza do fluxo, facilidade de matr?cula e entendimento das recompensas.</a:t>
            </a:r>
          </a:p>
          <a:p>
            <a:pPr marL="285750" indent="-171450">
              <a:buChar char="?"/>
              <a:buClr>
                <a:srgbClr val="2A9D8F"/>
              </a:buClr>
            </a:pPr>
            <a:r>
              <a:rPr lang="pt-BR" sz="1550" dirty="0">
                <a:solidFill>
                  <a:srgbClr val="14213D"/>
                </a:solidFill>
                <a:latin typeface="Aptos"/>
              </a:rPr>
              <a:t>Inserir prints, formul?rio ou relatos de feedback.</a:t>
            </a:r>
          </a:p>
        </p:txBody>
      </p:sp>
      <p:sp>
        <p:nvSpPr>
          <p:cNvPr id="7" name="Shape 7"/>
          <p:cNvSpPr/>
          <p:nvPr/>
        </p:nvSpPr>
        <p:spPr>
          <a:xfrm>
            <a:off x="8000000" y="1500000"/>
            <a:ext cx="3000000" cy="2700000"/>
          </a:xfrm>
          <a:prstGeom prst="roundRect">
            <a:avLst/>
          </a:prstGeom>
          <a:solidFill>
            <a:srgbClr val="FFF4E8"/>
          </a:solidFill>
          <a:ln w="180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350000" y="224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2100" dirty="0">
                <a:solidFill>
                  <a:srgbClr val="8A4B19"/>
                </a:solidFill>
                <a:b/>
                <a:latin typeface="Aptos"/>
              </a:rPr>
              <a:t>Evid?ncia visual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0000" y="2900000"/>
            <a:ext cx="2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pt-BR" sz="1300" dirty="0">
                <a:solidFill>
                  <a:srgbClr val="8A4B19"/>
                </a:solidFill>
                <a:latin typeface="Aptos"/>
              </a:rPr>
              <a:t>reservar espa?o para print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880000"/>
            <a:ext cx="10680000" cy="5200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A26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10000" y="6000000"/>
            <a:ext cx="1005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1120" dirty="0">
                <a:solidFill>
                  <a:srgbClr val="8A4B19"/>
                </a:solidFill>
                <a:latin typeface="Aptos"/>
              </a:rPr>
              <a:t>Inserir prints, formul?rio ou relatos de feedback.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50000" y="800000"/>
            <a:ext cx="85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3800" dirty="0">
                <a:solidFill>
                  <a:srgbClr val="FFFFFF"/>
                </a:solidFill>
                <a:b/>
                <a:latin typeface="Aptos Display"/>
              </a:rPr>
              <a:t>Considera??es Finais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950000" y="1850000"/>
            <a:ext cx="93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O projeto aplica separa??o de camadas, DTOs, JPA, Spring Data, Swagger e Docker.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A arquitetura favorece manuten??o e expans?o.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Pontos fortes: CRUD completo, autentica??o, documenta??o Swagger, front-end e containeriza??o.</a:t>
            </a:r>
          </a:p>
          <a:p>
            <a:pPr marL="285750" indent="-171450">
              <a:buChar char="?"/>
              <a:buClr>
                <a:srgbClr val="F4A261"/>
              </a:buClr>
            </a:pPr>
            <a:r>
              <a:rPr lang="pt-BR" sz="1700" dirty="0">
                <a:solidFill>
                  <a:srgbClr val="FFFFFF"/>
                </a:solidFill>
                <a:latin typeface="Aptos"/>
              </a:rPr>
              <a:t>Pr?ximas evolu??es: regras completas de gamifica??o, moedas, vouchers, testes automatizados e Gemini.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0000" y="57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pt-BR" sz="2300" dirty="0">
                <a:solidFill>
                  <a:srgbClr val="FFFFFF"/>
                </a:solidFill>
                <a:b/>
                <a:latin typeface="Aptos"/>
              </a:rPr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dra X Andreia">
  <a:themeElements>
    <a:clrScheme name="Custom">
      <a:dk1>
        <a:srgbClr val="14213D"/>
      </a:dk1>
      <a:lt1>
        <a:srgbClr val="FFFFFF"/>
      </a:lt1>
      <a:dk2>
        <a:srgbClr val="101828"/>
      </a:dk2>
      <a:lt2>
        <a:srgbClr val="F7F9FC"/>
      </a:lt2>
      <a:accent1>
        <a:srgbClr val="2A9D8F"/>
      </a:accent1>
      <a:accent2>
        <a:srgbClr val="457B9D"/>
      </a:accent2>
      <a:accent3>
        <a:srgbClr val="F4A261"/>
      </a:accent3>
      <a:accent4>
        <a:srgbClr val="E76F51"/>
      </a:accent4>
      <a:accent5>
        <a:srgbClr val="5D667A"/>
      </a:accent5>
      <a:accent6>
        <a:srgbClr val="D9E2EC"/>
      </a:accent6>
      <a:hlink>
        <a:srgbClr val="457B9D"/>
      </a:hlink>
      <a:folHlink>
        <a:srgbClr val="2A9D8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ustom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" xmlns:dcmitype="http://purl.org/dc/dcmitype" xmlns:xsi="http://www.w3.org/2001/XMLSchema-instance">
  <dc:title>Apresenta??o Sandra X Andreia</dc:title>
  <dc:creator>Codex</dc:creator>
</cp:coreProperties>
</file>